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_AND_BODY">
  <p:cSld name="TITLE_AND_BODY 2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 rot="10800000" flipH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3" descr="Google Shape;12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 descr="Google Shape;13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" name="Google Shape;31;p3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32" name="Google Shape;32;p3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" name="Google Shape;33;p3" descr="Google Shape;16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" name="Google Shape;34;p3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5" name="Google Shape;35;p3" descr="Google Shape;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 descr="Google Shape;19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3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38" name="Google Shape;38;p3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" name="Google Shape;39;p3" descr="Google Shape;22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" name="Google Shape;40;p3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" name="Google Shape;41;p3" descr="Google Shape;2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body" idx="1"/>
          </p:nvPr>
        </p:nvSpPr>
        <p:spPr>
          <a:xfrm>
            <a:off x="457200" y="1604519"/>
            <a:ext cx="8229241" cy="397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JECT" type="obj">
  <p:cSld name="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 rot="10800000" flipH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4" descr="Google Shape;12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4" descr="Google Shape;13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4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51" name="Google Shape;51;p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" name="Google Shape;52;p4" descr="Google Shape;16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4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4" name="Google Shape;54;p4" descr="Google Shape;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4" descr="Google Shape;19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4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57" name="Google Shape;57;p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" name="Google Shape;58;p4" descr="Google Shape;22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4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0" name="Google Shape;60;p4" descr="Google Shape;2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_OBJECTS" type="twoObj">
  <p:cSld name="TWO_OBJECT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 rot="10800000" flipH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5" descr="Google Shape;12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5" descr="Google Shape;13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5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69" name="Google Shape;69;p5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0" name="Google Shape;70;p5" descr="Google Shape;16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2" name="Google Shape;72;p5" descr="Google Shape;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5" descr="Google Shape;19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" name="Google Shape;74;p5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75" name="Google Shape;75;p5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6" name="Google Shape;76;p5" descr="Google Shape;22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8" name="Google Shape;78;p5" descr="Google Shape;2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body" idx="1"/>
          </p:nvPr>
        </p:nvSpPr>
        <p:spPr>
          <a:xfrm>
            <a:off x="457200" y="1604519"/>
            <a:ext cx="4015800" cy="397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body" idx="2"/>
          </p:nvPr>
        </p:nvSpPr>
        <p:spPr>
          <a:xfrm>
            <a:off x="4674239" y="1604519"/>
            <a:ext cx="4015800" cy="397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_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 rot="10800000" flipH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6" descr="Google Shape;12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6" descr="Google Shape;13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" name="Google Shape;88;p6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89" name="Google Shape;89;p6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" name="Google Shape;90;p6" descr="Google Shape;16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6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2" name="Google Shape;92;p6" descr="Google Shape;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6" descr="Google Shape;19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6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95" name="Google Shape;95;p6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6" descr="Google Shape;22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6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8" name="Google Shape;98;p6" descr="Google Shape;2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JECT_ONLY" type="objOnly">
  <p:cSld name="OBJECT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 rot="10800000" flipH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7" descr="Google Shape;12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7" descr="Google Shape;13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7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107" name="Google Shape;107;p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8" name="Google Shape;108;p7" descr="Google Shape;16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7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0" name="Google Shape;110;p7" descr="Google Shape;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7" descr="Google Shape;19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7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113" name="Google Shape;113;p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4" name="Google Shape;114;p7" descr="Google Shape;22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7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6" name="Google Shape;116;p7" descr="Google Shape;2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5486040" cy="423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7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_OBJECTS_AND_OBJECT" type="twoObjAndObj">
  <p:cSld name="TWO_OBJECTS_AND_OBJEC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 rot="10800000" flipH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8" descr="Google Shape;12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8" descr="Google Shape;13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8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125" name="Google Shape;125;p8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6" name="Google Shape;126;p8" descr="Google Shape;16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8" name="Google Shape;128;p8" descr="Google Shape;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8" descr="Google Shape;19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8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131" name="Google Shape;131;p8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2" name="Google Shape;132;p8" descr="Google Shape;22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4" name="Google Shape;134;p8" descr="Google Shape;2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8"/>
          <p:cNvSpPr txBox="1">
            <a:spLocks noGrp="1"/>
          </p:cNvSpPr>
          <p:nvPr>
            <p:ph type="body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8"/>
          <p:cNvSpPr txBox="1">
            <a:spLocks noGrp="1"/>
          </p:cNvSpPr>
          <p:nvPr>
            <p:ph type="body" idx="2"/>
          </p:nvPr>
        </p:nvSpPr>
        <p:spPr>
          <a:xfrm>
            <a:off x="4674239" y="1604519"/>
            <a:ext cx="4015800" cy="397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3"/>
          </p:nvPr>
        </p:nvSpPr>
        <p:spPr>
          <a:xfrm>
            <a:off x="457199" y="3682079"/>
            <a:ext cx="4015801" cy="18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8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JECT_AND_TWO_OBJECTS" type="objAndTwoObj">
  <p:cSld name="OBJECT_AND_TWO_OBJECTS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 rot="10800000" flipH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9" descr="Google Shape;12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9" descr="Google Shape;13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9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146" name="Google Shape;146;p9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7" name="Google Shape;147;p9" descr="Google Shape;16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9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9" name="Google Shape;149;p9" descr="Google Shape;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9" descr="Google Shape;19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9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152" name="Google Shape;152;p9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3" name="Google Shape;153;p9" descr="Google Shape;22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9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5" name="Google Shape;155;p9" descr="Google Shape;2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body" idx="1"/>
          </p:nvPr>
        </p:nvSpPr>
        <p:spPr>
          <a:xfrm>
            <a:off x="457200" y="1604519"/>
            <a:ext cx="4015800" cy="397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9"/>
          <p:cNvSpPr txBox="1">
            <a:spLocks noGrp="1"/>
          </p:cNvSpPr>
          <p:nvPr>
            <p:ph type="body" idx="2"/>
          </p:nvPr>
        </p:nvSpPr>
        <p:spPr>
          <a:xfrm>
            <a:off x="4674239" y="1604519"/>
            <a:ext cx="4015800" cy="1896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body" idx="3"/>
          </p:nvPr>
        </p:nvSpPr>
        <p:spPr>
          <a:xfrm>
            <a:off x="4674239" y="3682079"/>
            <a:ext cx="4015800" cy="18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9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_OBJECTS_OVER_TEXT" type="twoObjOverTx">
  <p:cSld name="TWO_OBJECTS_OVER_TEX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 rot="10800000" flipH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0" descr="Google Shape;12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 descr="Google Shape;13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10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167" name="Google Shape;167;p10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8" name="Google Shape;168;p10" descr="Google Shape;16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0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0" name="Google Shape;170;p10" descr="Google Shape;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0" descr="Google Shape;19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10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173" name="Google Shape;173;p10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4" name="Google Shape;174;p10" descr="Google Shape;22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10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6" name="Google Shape;176;p10" descr="Google Shape;2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0"/>
          <p:cNvSpPr txBox="1">
            <a:spLocks noGrp="1"/>
          </p:cNvSpPr>
          <p:nvPr>
            <p:ph type="body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10"/>
          <p:cNvSpPr txBox="1">
            <a:spLocks noGrp="1"/>
          </p:cNvSpPr>
          <p:nvPr>
            <p:ph type="body" idx="2"/>
          </p:nvPr>
        </p:nvSpPr>
        <p:spPr>
          <a:xfrm>
            <a:off x="4674239" y="1604519"/>
            <a:ext cx="4015800" cy="1896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10"/>
          <p:cNvSpPr txBox="1">
            <a:spLocks noGrp="1"/>
          </p:cNvSpPr>
          <p:nvPr>
            <p:ph type="body" idx="3"/>
          </p:nvPr>
        </p:nvSpPr>
        <p:spPr>
          <a:xfrm>
            <a:off x="457199" y="3682079"/>
            <a:ext cx="8229242" cy="18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10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JECT_OVER_TEXT" type="objOverTx">
  <p:cSld name="OBJECT_OVER_TEXT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"/>
          <p:cNvSpPr/>
          <p:nvPr/>
        </p:nvSpPr>
        <p:spPr>
          <a:xfrm rot="10800000" flipH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11" descr="Google Shape;12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1" descr="Google Shape;13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" name="Google Shape;187;p11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188" name="Google Shape;188;p11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9" name="Google Shape;189;p11" descr="Google Shape;16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11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1" name="Google Shape;191;p11" descr="Google Shape;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1" descr="Google Shape;19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11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194" name="Google Shape;194;p11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5" name="Google Shape;195;p11" descr="Google Shape;22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11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7" name="Google Shape;197;p11" descr="Google Shape;2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1"/>
          <p:cNvSpPr txBox="1">
            <a:spLocks noGrp="1"/>
          </p:cNvSpPr>
          <p:nvPr>
            <p:ph type="body" idx="1"/>
          </p:nvPr>
        </p:nvSpPr>
        <p:spPr>
          <a:xfrm>
            <a:off x="457200" y="1604519"/>
            <a:ext cx="8229241" cy="1896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11"/>
          <p:cNvSpPr txBox="1">
            <a:spLocks noGrp="1"/>
          </p:cNvSpPr>
          <p:nvPr>
            <p:ph type="body" idx="2"/>
          </p:nvPr>
        </p:nvSpPr>
        <p:spPr>
          <a:xfrm>
            <a:off x="457199" y="3682079"/>
            <a:ext cx="8229242" cy="18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11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OUR_OBJECTS" type="fourObj">
  <p:cSld name="FOUR_OBJECTS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/>
          <p:nvPr/>
        </p:nvSpPr>
        <p:spPr>
          <a:xfrm rot="10800000" flipH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12" descr="Google Shape;12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2" descr="Google Shape;13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12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208" name="Google Shape;208;p12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9" name="Google Shape;209;p12" descr="Google Shape;16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12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1" name="Google Shape;211;p12" descr="Google Shape;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2" descr="Google Shape;19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12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214" name="Google Shape;214;p12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5" name="Google Shape;215;p12" descr="Google Shape;22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12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7" name="Google Shape;217;p12" descr="Google Shape;2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2"/>
          <p:cNvSpPr txBox="1">
            <a:spLocks noGrp="1"/>
          </p:cNvSpPr>
          <p:nvPr>
            <p:ph type="body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12"/>
          <p:cNvSpPr txBox="1">
            <a:spLocks noGrp="1"/>
          </p:cNvSpPr>
          <p:nvPr>
            <p:ph type="body" idx="2"/>
          </p:nvPr>
        </p:nvSpPr>
        <p:spPr>
          <a:xfrm>
            <a:off x="4674239" y="1604519"/>
            <a:ext cx="4015800" cy="1896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12"/>
          <p:cNvSpPr txBox="1">
            <a:spLocks noGrp="1"/>
          </p:cNvSpPr>
          <p:nvPr>
            <p:ph type="body" idx="3"/>
          </p:nvPr>
        </p:nvSpPr>
        <p:spPr>
          <a:xfrm>
            <a:off x="457199" y="3682079"/>
            <a:ext cx="4015801" cy="18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12"/>
          <p:cNvSpPr txBox="1">
            <a:spLocks noGrp="1"/>
          </p:cNvSpPr>
          <p:nvPr>
            <p:ph type="body" idx="4"/>
          </p:nvPr>
        </p:nvSpPr>
        <p:spPr>
          <a:xfrm>
            <a:off x="4674239" y="3682079"/>
            <a:ext cx="4015800" cy="18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12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6 Content">
  <p:cSld name="Title, 6 Conten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3"/>
          <p:cNvSpPr/>
          <p:nvPr/>
        </p:nvSpPr>
        <p:spPr>
          <a:xfrm rot="10800000" flipH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13" descr="Google Shape;12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3" descr="Google Shape;13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13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230" name="Google Shape;230;p13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1" name="Google Shape;231;p13" descr="Google Shape;16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13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3" name="Google Shape;233;p13" descr="Google Shape;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3" descr="Google Shape;19;p18"/>
          <p:cNvPicPr preferRelativeResize="0"/>
          <p:nvPr/>
        </p:nvPicPr>
        <p:blipFill rotWithShape="1">
          <a:blip r:embed="rId2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13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236" name="Google Shape;236;p13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7" name="Google Shape;237;p13" descr="Google Shape;22;p18"/>
            <p:cNvPicPr preferRelativeResize="0"/>
            <p:nvPr/>
          </p:nvPicPr>
          <p:blipFill rotWithShape="1">
            <a:blip r:embed="rId2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13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9" name="Google Shape;239;p13" descr="Google Shape;2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13"/>
          <p:cNvSpPr txBox="1">
            <a:spLocks noGrp="1"/>
          </p:cNvSpPr>
          <p:nvPr>
            <p:ph type="body" idx="1"/>
          </p:nvPr>
        </p:nvSpPr>
        <p:spPr>
          <a:xfrm>
            <a:off x="457200" y="1604519"/>
            <a:ext cx="2649601" cy="1896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body" idx="2"/>
          </p:nvPr>
        </p:nvSpPr>
        <p:spPr>
          <a:xfrm>
            <a:off x="3239640" y="1604519"/>
            <a:ext cx="2649601" cy="1896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13"/>
          <p:cNvSpPr txBox="1">
            <a:spLocks noGrp="1"/>
          </p:cNvSpPr>
          <p:nvPr>
            <p:ph type="body" idx="3"/>
          </p:nvPr>
        </p:nvSpPr>
        <p:spPr>
          <a:xfrm>
            <a:off x="6022080" y="1604519"/>
            <a:ext cx="2649601" cy="1896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13"/>
          <p:cNvSpPr txBox="1">
            <a:spLocks noGrp="1"/>
          </p:cNvSpPr>
          <p:nvPr>
            <p:ph type="body" idx="4"/>
          </p:nvPr>
        </p:nvSpPr>
        <p:spPr>
          <a:xfrm>
            <a:off x="457199" y="3682079"/>
            <a:ext cx="2649602" cy="18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13"/>
          <p:cNvSpPr txBox="1">
            <a:spLocks noGrp="1"/>
          </p:cNvSpPr>
          <p:nvPr>
            <p:ph type="body" idx="5"/>
          </p:nvPr>
        </p:nvSpPr>
        <p:spPr>
          <a:xfrm>
            <a:off x="3239640" y="3682079"/>
            <a:ext cx="2649601" cy="18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body" idx="6"/>
          </p:nvPr>
        </p:nvSpPr>
        <p:spPr>
          <a:xfrm>
            <a:off x="6022080" y="3682079"/>
            <a:ext cx="2649601" cy="18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13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/>
          <p:nvPr/>
        </p:nvSpPr>
        <p:spPr>
          <a:xfrm rot="10800000" flipH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8;p1" descr="Google Shape;12;p18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 descr="Google Shape;13;p18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1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11" name="Google Shape;11;p1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" name="Google Shape;12;p1" descr="Google Shape;16;p18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3;p1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" name="Google Shape;14;p1" descr="Google Shape;18;p18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 descr="Google Shape;19;p18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1"/>
          <p:cNvGrpSpPr/>
          <p:nvPr/>
        </p:nvGrpSpPr>
        <p:grpSpPr>
          <a:xfrm>
            <a:off x="6146638" y="0"/>
            <a:ext cx="2997003" cy="875882"/>
            <a:chOff x="-1" y="0"/>
            <a:chExt cx="2997002" cy="875880"/>
          </a:xfrm>
        </p:grpSpPr>
        <p:sp>
          <p:nvSpPr>
            <p:cNvPr id="17" name="Google Shape;17;p1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" name="Google Shape;18;p1" descr="Google Shape;22;p18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1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" name="Google Shape;20;p1" descr="Google Shape;24;p18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79" y="228600"/>
            <a:ext cx="1920601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"/>
          <p:cNvSpPr txBox="1"/>
          <p:nvPr/>
        </p:nvSpPr>
        <p:spPr>
          <a:xfrm>
            <a:off x="0" y="824375"/>
            <a:ext cx="9144000" cy="527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dirty="0"/>
          </a:p>
          <a:p>
            <a:pPr lvl="0" algn="ctr">
              <a:spcBef>
                <a:spcPts val="400"/>
              </a:spcBef>
              <a:buSzPts val="24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Data-Driven Analysis of Customer Purchase Behavior in E-Commerce Platforms </a:t>
            </a:r>
            <a:endParaRPr sz="24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By:-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Prikshit - 2210992087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By:-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Gurpreet Singh</a:t>
            </a:r>
            <a:endParaRPr sz="2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 txBox="1">
            <a:spLocks noGrp="1"/>
          </p:cNvSpPr>
          <p:nvPr>
            <p:ph type="title"/>
          </p:nvPr>
        </p:nvSpPr>
        <p:spPr>
          <a:xfrm>
            <a:off x="0" y="-1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lang="en-US" sz="3500" b="1">
                <a:latin typeface="Times New Roman"/>
                <a:ea typeface="Times New Roman"/>
                <a:cs typeface="Times New Roman"/>
                <a:sym typeface="Times New Roman"/>
              </a:rPr>
              <a:t> Contents</a:t>
            </a:r>
            <a:endParaRPr/>
          </a:p>
        </p:txBody>
      </p:sp>
      <p:sp>
        <p:nvSpPr>
          <p:cNvPr id="258" name="Google Shape;258;p15"/>
          <p:cNvSpPr txBox="1">
            <a:spLocks noGrp="1"/>
          </p:cNvSpPr>
          <p:nvPr>
            <p:ph type="body" idx="1"/>
          </p:nvPr>
        </p:nvSpPr>
        <p:spPr>
          <a:xfrm>
            <a:off x="133983" y="1368065"/>
            <a:ext cx="7324367" cy="345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365760" lvl="0" indent="-36576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  <a:p>
            <a:pPr marL="365760" lvl="0" indent="-36576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dirty="0"/>
          </a:p>
          <a:p>
            <a:pPr marL="365760" lvl="0" indent="-36576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dirty="0"/>
          </a:p>
          <a:p>
            <a:pPr marL="365760" lvl="0" indent="-36576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dirty="0"/>
          </a:p>
          <a:p>
            <a:pPr marL="365760" lvl="0" indent="-36576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  <a:endParaRPr dirty="0"/>
          </a:p>
          <a:p>
            <a:pPr marL="365760" lvl="0" indent="-36576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dirty="0"/>
          </a:p>
          <a:p>
            <a:pPr marL="365760" lvl="0" indent="-36576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Algorithms Used</a:t>
            </a:r>
            <a:endParaRPr dirty="0"/>
          </a:p>
          <a:p>
            <a:pPr marL="365760" lvl="0" indent="-36576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 dirty="0"/>
          </a:p>
          <a:p>
            <a:pPr marL="365760" lvl="0" indent="-36576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dirty="0"/>
          </a:p>
          <a:p>
            <a:pPr marL="365760" lvl="0" indent="-36576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dirty="0"/>
          </a:p>
          <a:p>
            <a:pPr marL="365760" lvl="0" indent="-36576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"/>
          <p:cNvSpPr txBox="1"/>
          <p:nvPr/>
        </p:nvSpPr>
        <p:spPr>
          <a:xfrm>
            <a:off x="45724" y="165602"/>
            <a:ext cx="5928112" cy="580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</p:txBody>
      </p:sp>
      <p:sp>
        <p:nvSpPr>
          <p:cNvPr id="264" name="Google Shape;264;p16"/>
          <p:cNvSpPr txBox="1"/>
          <p:nvPr/>
        </p:nvSpPr>
        <p:spPr>
          <a:xfrm>
            <a:off x="159367" y="1054934"/>
            <a:ext cx="8825266" cy="5078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r>
              <a:rPr lang="en-US" sz="1800" b="1" dirty="0"/>
              <a:t>The Core Problem</a:t>
            </a:r>
          </a:p>
          <a:p>
            <a:endParaRPr lang="en-US" sz="1800" b="1" dirty="0"/>
          </a:p>
          <a:p>
            <a:r>
              <a:rPr lang="en-US" sz="1800" b="1" dirty="0"/>
              <a:t>The Digital Shift:</a:t>
            </a:r>
            <a:r>
              <a:rPr lang="en-US" sz="1800" dirty="0"/>
              <a:t> E-commerce is no longer just an alternative way to shop; it is the primary economic infrastructure where consumers constantly research, compare, and buy products. </a:t>
            </a:r>
          </a:p>
          <a:p>
            <a:r>
              <a:rPr lang="en-US" sz="1800" b="1" dirty="0"/>
              <a:t>The Data Opportunity:</a:t>
            </a:r>
            <a:r>
              <a:rPr lang="en-US" sz="1800" dirty="0"/>
              <a:t> Every click, product view, and abandoned cart leaves behind a digital footprint. The challenge for businesses isn't a lack of data-- it is knowing how to translate these massive data signals into actionable strategies. </a:t>
            </a:r>
          </a:p>
          <a:p>
            <a:endParaRPr lang="en-US" sz="1800" dirty="0"/>
          </a:p>
          <a:p>
            <a:r>
              <a:rPr lang="en-US" sz="1800" b="1" dirty="0"/>
              <a:t>The Objective of This Study</a:t>
            </a:r>
          </a:p>
          <a:p>
            <a:r>
              <a:rPr lang="en-US" sz="1800" b="1" dirty="0"/>
              <a:t>Moving Beyond Intuition:</a:t>
            </a:r>
            <a:r>
              <a:rPr lang="en-US" sz="1800" dirty="0"/>
              <a:t> Commercially viable retail decisions must be anchored in empirical behavioral evidence, not guesswork or gut feelings. </a:t>
            </a:r>
          </a:p>
          <a:p>
            <a:r>
              <a:rPr lang="en-US" sz="1800" b="1" dirty="0"/>
              <a:t>The Analytical Lens:</a:t>
            </a:r>
            <a:r>
              <a:rPr lang="en-US" sz="1800" dirty="0"/>
              <a:t> This research systematically analyzes how variables like discount strategies, review scores, session lengths, and device types directly influence final conversion outcomes. </a:t>
            </a:r>
          </a:p>
          <a:p>
            <a:r>
              <a:rPr lang="en-US" sz="1800" b="1" dirty="0"/>
              <a:t>The Business Goal:</a:t>
            </a:r>
            <a:r>
              <a:rPr lang="en-US" sz="1800" dirty="0"/>
              <a:t> The ultimate aim is to give businesses a data-driven blueprint to build smarter acquisition funnels, reduce cart abandonment, and maximize long-term customer lifetime value.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 txBox="1">
            <a:spLocks noGrp="1"/>
          </p:cNvSpPr>
          <p:nvPr>
            <p:ph type="title"/>
          </p:nvPr>
        </p:nvSpPr>
        <p:spPr>
          <a:xfrm>
            <a:off x="0" y="-1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lang="en-US" sz="3500" b="1">
                <a:latin typeface="Times New Roman"/>
                <a:ea typeface="Times New Roman"/>
                <a:cs typeface="Times New Roman"/>
                <a:sym typeface="Times New Roman"/>
              </a:rPr>
              <a:t> Problem Statement</a:t>
            </a:r>
            <a:endParaRPr/>
          </a:p>
        </p:txBody>
      </p:sp>
      <p:sp>
        <p:nvSpPr>
          <p:cNvPr id="270" name="Google Shape;270;p17"/>
          <p:cNvSpPr txBox="1">
            <a:spLocks noGrp="1"/>
          </p:cNvSpPr>
          <p:nvPr>
            <p:ph type="body" idx="1"/>
          </p:nvPr>
        </p:nvSpPr>
        <p:spPr>
          <a:xfrm>
            <a:off x="180774" y="1079420"/>
            <a:ext cx="8782452" cy="538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/>
          </a:bodyPr>
          <a:lstStyle/>
          <a:p>
            <a:pPr marL="50800" indent="0">
              <a:buNone/>
            </a:pPr>
            <a:r>
              <a:rPr lang="en-US" sz="2300" dirty="0"/>
              <a:t>      The traditional e-commerce ecosystem faces several challenges:</a:t>
            </a:r>
          </a:p>
          <a:p>
            <a:r>
              <a:rPr lang="en-US" sz="2300" b="1" dirty="0"/>
              <a:t>Over-reliance on intuition:</a:t>
            </a:r>
            <a:r>
              <a:rPr lang="en-US" sz="2300" dirty="0"/>
              <a:t> Commercially critical business decisions are frequently anchored in guesswork rather than empirical behavioral evidence. </a:t>
            </a:r>
          </a:p>
          <a:p>
            <a:r>
              <a:rPr lang="en-US" sz="2300" b="1" dirty="0"/>
              <a:t>Conversion leaks in the customer journey:</a:t>
            </a:r>
            <a:r>
              <a:rPr lang="en-US" sz="2300" dirty="0"/>
              <a:t> High cart abandonment rates persist due to friction points like mobile-to-desktop navigation gaps and checkout complexity. </a:t>
            </a:r>
          </a:p>
          <a:p>
            <a:r>
              <a:rPr lang="en-US" sz="2300" b="1" dirty="0"/>
              <a:t>Inefficient promotional architectures:</a:t>
            </a:r>
            <a:r>
              <a:rPr lang="en-US" sz="2300" dirty="0"/>
              <a:t> Platforms often deploy aggressive, blanket discounts that trigger severe margin compression and attract low-value, high-return customer segments. </a:t>
            </a:r>
          </a:p>
          <a:p>
            <a:r>
              <a:rPr lang="en-US" sz="2300" b="1" dirty="0"/>
              <a:t>Trust deficits and review manipulation:</a:t>
            </a:r>
            <a:r>
              <a:rPr lang="en-US" sz="2300" dirty="0"/>
              <a:t> Consumers increasingly struggle to evaluate product quality due to non-transparent ratings and suspected review manipulation. </a:t>
            </a:r>
          </a:p>
          <a:p>
            <a:r>
              <a:rPr lang="en-US" sz="2300" b="1" dirty="0"/>
              <a:t>Lack of actionable customer intelligence:</a:t>
            </a:r>
            <a:r>
              <a:rPr lang="en-US" sz="2300" dirty="0"/>
              <a:t> Businesses fail to systematically partition diverse user bases into behaviorally coherent segments, leading to generic, ineffective marketing interventions.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56"/>
              <a:buNone/>
            </a:pPr>
            <a:endParaRPr sz="22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"/>
          <p:cNvSpPr txBox="1">
            <a:spLocks noGrp="1"/>
          </p:cNvSpPr>
          <p:nvPr>
            <p:ph type="title"/>
          </p:nvPr>
        </p:nvSpPr>
        <p:spPr>
          <a:xfrm>
            <a:off x="0" y="-1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lang="en-US" sz="3500" b="1">
                <a:latin typeface="Times New Roman"/>
                <a:ea typeface="Times New Roman"/>
                <a:cs typeface="Times New Roman"/>
                <a:sym typeface="Times New Roman"/>
              </a:rPr>
              <a:t> Objectives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45724" y="1126610"/>
            <a:ext cx="9052551" cy="4247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endParaRPr lang="en-US" sz="1800" b="1" dirty="0"/>
          </a:p>
          <a:p>
            <a:r>
              <a:rPr lang="en-US" sz="1800" b="1" dirty="0"/>
              <a:t>Explore the role of data analytics frameworks</a:t>
            </a:r>
            <a:r>
              <a:rPr lang="en-US" sz="1800" dirty="0"/>
              <a:t> in understanding online consumer tendencies across digital platforms. </a:t>
            </a:r>
          </a:p>
          <a:p>
            <a:endParaRPr lang="en-US" sz="1800" dirty="0"/>
          </a:p>
          <a:p>
            <a:r>
              <a:rPr lang="en-US" sz="1800" b="1" dirty="0"/>
              <a:t>Analyze behavioral variables</a:t>
            </a:r>
            <a:r>
              <a:rPr lang="en-US" sz="1800" dirty="0"/>
              <a:t> such as session-level browsing activity, dynamic pricing, and user ratings to identify their impact on transactional outcomes. </a:t>
            </a:r>
          </a:p>
          <a:p>
            <a:endParaRPr lang="en-US" sz="1800" dirty="0"/>
          </a:p>
          <a:p>
            <a:r>
              <a:rPr lang="en-US" sz="1800" b="1" dirty="0"/>
              <a:t>Study and compare different customer segments</a:t>
            </a:r>
            <a:r>
              <a:rPr lang="en-US" sz="1800" dirty="0"/>
              <a:t> using a structured RFM clustering framework based on their value and purchase habits. </a:t>
            </a:r>
          </a:p>
          <a:p>
            <a:endParaRPr lang="en-US" sz="1800" dirty="0"/>
          </a:p>
          <a:p>
            <a:r>
              <a:rPr lang="en-US" sz="1800" b="1" dirty="0"/>
              <a:t>Evaluate the performance and benefits</a:t>
            </a:r>
            <a:r>
              <a:rPr lang="en-US" sz="1800" dirty="0"/>
              <a:t> of optimization strategies in critical areas such as mobile conversion, cart abandonment recovery, and seasonal forecasting. </a:t>
            </a:r>
          </a:p>
          <a:p>
            <a:endParaRPr lang="en-US" sz="1800" dirty="0"/>
          </a:p>
          <a:p>
            <a:r>
              <a:rPr lang="en-US" sz="1800" b="1" dirty="0"/>
              <a:t>Support e-commerce practitioners</a:t>
            </a:r>
            <a:r>
              <a:rPr lang="en-US" sz="1800" dirty="0"/>
              <a:t> in improving strategic decision-making, deployment of personalization, and long-term customer retention.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"/>
          <p:cNvSpPr txBox="1">
            <a:spLocks noGrp="1"/>
          </p:cNvSpPr>
          <p:nvPr>
            <p:ph type="title"/>
          </p:nvPr>
        </p:nvSpPr>
        <p:spPr>
          <a:xfrm>
            <a:off x="0" y="-1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/>
              <a:t>Key Features</a:t>
            </a:r>
            <a:endParaRPr/>
          </a:p>
        </p:txBody>
      </p:sp>
      <p:sp>
        <p:nvSpPr>
          <p:cNvPr id="282" name="Google Shape;282;p19"/>
          <p:cNvSpPr txBox="1">
            <a:spLocks noGrp="1"/>
          </p:cNvSpPr>
          <p:nvPr>
            <p:ph type="body" idx="1"/>
          </p:nvPr>
        </p:nvSpPr>
        <p:spPr>
          <a:xfrm>
            <a:off x="180674" y="1281216"/>
            <a:ext cx="8643791" cy="482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 fontScale="92500" lnSpcReduction="10000"/>
          </a:bodyPr>
          <a:lstStyle/>
          <a:p>
            <a:r>
              <a:rPr lang="en-US" sz="1900" b="1" dirty="0"/>
              <a:t>Data Analytics Infrastructure:</a:t>
            </a:r>
            <a:r>
              <a:rPr lang="en-US" sz="1900" dirty="0"/>
              <a:t> Utilizes secondary e-commerce transaction repositories and aggregated digital behavioral metrics to analyze consumer actions. </a:t>
            </a:r>
          </a:p>
          <a:p>
            <a:r>
              <a:rPr lang="en-US" sz="1900" b="1" dirty="0"/>
              <a:t>Empirical Behavioral Analysis:</a:t>
            </a:r>
            <a:r>
              <a:rPr lang="en-US" sz="1900" dirty="0"/>
              <a:t> Evaluates statistical relationships between behavioral predictors—like discount depth, review scores, and session lengths—and final conversion outcomes. </a:t>
            </a:r>
          </a:p>
          <a:p>
            <a:r>
              <a:rPr lang="en-US" sz="1900" b="1" dirty="0"/>
              <a:t>Advanced Customer Segmentation:</a:t>
            </a:r>
            <a:r>
              <a:rPr lang="en-US" sz="1900" dirty="0"/>
              <a:t> Applies an RFM (Recency, Frequency, Monetary) clustering framework to systematically partition the user base into distinct behavioral groups. </a:t>
            </a:r>
          </a:p>
          <a:p>
            <a:r>
              <a:rPr lang="en-US" sz="1900" b="1" dirty="0"/>
              <a:t>Temporal and Friction Tracking:</a:t>
            </a:r>
            <a:r>
              <a:rPr lang="en-US" sz="1900" dirty="0"/>
              <a:t> Decomposes transaction timestamps to identify seasonal cycles and maps page sequences to uncover cart abandonment dynamics. </a:t>
            </a:r>
          </a:p>
          <a:p>
            <a:r>
              <a:rPr lang="en-US" sz="1900" b="1" dirty="0"/>
              <a:t>Optimized Business Interventions:</a:t>
            </a:r>
            <a:r>
              <a:rPr lang="en-US" sz="1900" dirty="0"/>
              <a:t> Identifies high-return optimization opportunities, such as mobile checkout simplification and automated engagement triggers, to reduce friction. </a:t>
            </a:r>
          </a:p>
          <a:p>
            <a:r>
              <a:rPr lang="en-US" sz="1900" b="1" dirty="0"/>
              <a:t>Future Retail Innovation:</a:t>
            </a:r>
            <a:r>
              <a:rPr lang="en-US" sz="1900" dirty="0"/>
              <a:t> Promotes empirical, data-driven decision-making architectures that improve retention mechanisms and deploy personalization at scale.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37D9-D46C-1263-9A4E-A853EE0D7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95068" cy="914041"/>
          </a:xfrm>
        </p:spPr>
        <p:txBody>
          <a:bodyPr>
            <a:normAutofit/>
          </a:bodyPr>
          <a:lstStyle/>
          <a:p>
            <a:r>
              <a:rPr lang="en-IN" sz="2800" dirty="0"/>
              <a:t>Costumer </a:t>
            </a:r>
            <a:r>
              <a:rPr lang="en-IN" sz="2800" dirty="0" err="1"/>
              <a:t>Purcharse</a:t>
            </a:r>
            <a:r>
              <a:rPr lang="en-IN" sz="2800" dirty="0"/>
              <a:t> behaviour On basis of Ratings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C1C64-23BA-4234-20FC-0C59EB909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IN" dirty="0"/>
              <a:t>Fig. 1</a:t>
            </a:r>
          </a:p>
        </p:txBody>
      </p:sp>
      <p:pic>
        <p:nvPicPr>
          <p:cNvPr id="4" name="chart" descr="Research chart" title="Chart">
            <a:extLst>
              <a:ext uri="{FF2B5EF4-FFF2-40B4-BE49-F238E27FC236}">
                <a16:creationId xmlns:a16="http://schemas.microsoft.com/office/drawing/2014/main" id="{5B16EE5A-A3FD-6766-614B-164930999B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11247" y="1604519"/>
            <a:ext cx="4483821" cy="375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878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"/>
          <p:cNvSpPr txBox="1">
            <a:spLocks noGrp="1"/>
          </p:cNvSpPr>
          <p:nvPr>
            <p:ph type="title"/>
          </p:nvPr>
        </p:nvSpPr>
        <p:spPr>
          <a:xfrm>
            <a:off x="0" y="-1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lang="en-US" sz="3500" b="1" dirty="0">
                <a:latin typeface="Times New Roman"/>
                <a:ea typeface="Times New Roman"/>
                <a:cs typeface="Times New Roman"/>
                <a:sym typeface="Times New Roman"/>
              </a:rPr>
              <a:t> Dataset Description</a:t>
            </a:r>
            <a:endParaRPr dirty="0"/>
          </a:p>
        </p:txBody>
      </p:sp>
      <p:sp>
        <p:nvSpPr>
          <p:cNvPr id="288" name="Google Shape;288;p20"/>
          <p:cNvSpPr txBox="1">
            <a:spLocks noGrp="1"/>
          </p:cNvSpPr>
          <p:nvPr>
            <p:ph type="body" idx="1"/>
          </p:nvPr>
        </p:nvSpPr>
        <p:spPr>
          <a:xfrm>
            <a:off x="249620" y="1127564"/>
            <a:ext cx="8436821" cy="5287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r>
              <a:rPr lang="en-US" sz="1800" b="1" dirty="0"/>
              <a:t>Data Sourcing:</a:t>
            </a:r>
            <a:r>
              <a:rPr lang="en-US" sz="1800" dirty="0"/>
              <a:t> Utilizes public secondary e-commerce transaction repositories and aggregated digital behavioral data from verified industry research reports. </a:t>
            </a:r>
          </a:p>
          <a:p>
            <a:r>
              <a:rPr lang="en-US" sz="1800" b="1" dirty="0"/>
              <a:t>Diversity &amp; Scope:</a:t>
            </a:r>
            <a:r>
              <a:rPr lang="en-US" sz="1800" dirty="0"/>
              <a:t> The transaction data spans diverse product categories and multiple geographic markets, ensuring highly generalizable results. </a:t>
            </a:r>
          </a:p>
          <a:p>
            <a:r>
              <a:rPr lang="en-US" sz="1800" b="1" dirty="0"/>
              <a:t>Data Preprocessing:</a:t>
            </a:r>
            <a:r>
              <a:rPr lang="en-US" sz="1800" dirty="0"/>
              <a:t> Cleaned the data via contextual imputation, using median substitution for continuous variables and modal imputation for categorical fields to preserve dataset integrity. </a:t>
            </a:r>
          </a:p>
          <a:p>
            <a:r>
              <a:rPr lang="en-US" sz="1800" b="1" dirty="0"/>
              <a:t>Outlier Management:</a:t>
            </a:r>
            <a:r>
              <a:rPr lang="en-US" sz="1800" dirty="0"/>
              <a:t> Identified anomalies through z-score thresholding and interquartile range (IQR) fencing to keep the analytics accurate. </a:t>
            </a:r>
          </a:p>
          <a:p>
            <a:r>
              <a:rPr lang="en-US" sz="1800" b="1" dirty="0"/>
              <a:t>Feature Scaling:</a:t>
            </a:r>
            <a:r>
              <a:rPr lang="en-US" sz="1800" dirty="0"/>
              <a:t> Applied variable normalization across continuous predictors to completely eliminate scale asymmetry before running the models. </a:t>
            </a:r>
          </a:p>
          <a:p>
            <a:r>
              <a:rPr lang="en-US" sz="1800" b="1" dirty="0"/>
              <a:t>Privacy &amp; Ethics:</a:t>
            </a:r>
            <a:r>
              <a:rPr lang="en-US" sz="1800" dirty="0"/>
              <a:t> The dataset is entirely aggregated and anonymized, ensuring zero collection or retention of personally identifiable information.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"/>
          <p:cNvSpPr txBox="1">
            <a:spLocks noGrp="1"/>
          </p:cNvSpPr>
          <p:nvPr>
            <p:ph type="title"/>
          </p:nvPr>
        </p:nvSpPr>
        <p:spPr>
          <a:xfrm>
            <a:off x="0" y="-1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lang="en-US" sz="3500" b="1">
                <a:latin typeface="Times New Roman"/>
                <a:ea typeface="Times New Roman"/>
                <a:cs typeface="Times New Roman"/>
                <a:sym typeface="Times New Roman"/>
              </a:rPr>
              <a:t> Methodology</a:t>
            </a:r>
            <a:endParaRPr/>
          </a:p>
        </p:txBody>
      </p:sp>
      <p:sp>
        <p:nvSpPr>
          <p:cNvPr id="294" name="Google Shape;294;p21"/>
          <p:cNvSpPr txBox="1">
            <a:spLocks noGrp="1"/>
          </p:cNvSpPr>
          <p:nvPr>
            <p:ph type="body" idx="1"/>
          </p:nvPr>
        </p:nvSpPr>
        <p:spPr>
          <a:xfrm>
            <a:off x="205341" y="1119081"/>
            <a:ext cx="8481280" cy="530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r>
              <a:rPr lang="en-US" sz="2000" b="1" dirty="0"/>
              <a:t>Data Sourcing Framework:</a:t>
            </a:r>
            <a:r>
              <a:rPr lang="en-US" sz="2000" dirty="0"/>
              <a:t> Utilized secondary transaction logs, behavioral data, and industry clickstream metrics to ensure a multi-dimensional view of consumer habits.</a:t>
            </a:r>
          </a:p>
          <a:p>
            <a:r>
              <a:rPr lang="en-US" sz="2000" b="1" dirty="0"/>
              <a:t>Empirical Behavior Analysis:</a:t>
            </a:r>
            <a:r>
              <a:rPr lang="en-US" sz="2000" dirty="0"/>
              <a:t> Modeled statistical relationships between key independent variables (discount depth, ratings, session length) and final purchase decisions.</a:t>
            </a:r>
          </a:p>
          <a:p>
            <a:r>
              <a:rPr lang="en-US" sz="2000" b="1" dirty="0"/>
              <a:t>RFM Customer Segmentation:</a:t>
            </a:r>
            <a:r>
              <a:rPr lang="en-US" sz="2000" dirty="0"/>
              <a:t> Applied a K-Means clustering algorithm to group users into behaviorally coherent segments based on </a:t>
            </a:r>
            <a:r>
              <a:rPr lang="en-US" sz="2000" b="1" dirty="0"/>
              <a:t>Recency, Frequency, and Monetary</a:t>
            </a:r>
            <a:r>
              <a:rPr lang="en-US" sz="2000" dirty="0"/>
              <a:t> metrics.</a:t>
            </a:r>
          </a:p>
          <a:p>
            <a:r>
              <a:rPr lang="en-US" sz="2000" b="1" dirty="0"/>
              <a:t>Friction &amp; Abandonment Mapping:</a:t>
            </a:r>
            <a:r>
              <a:rPr lang="en-US" sz="2000" dirty="0"/>
              <a:t> Dissected sequential user session pathways to pinpoint exactly where cart abandonment and checkout dropping happen.</a:t>
            </a:r>
          </a:p>
          <a:p>
            <a:r>
              <a:rPr lang="en-US" sz="2000" b="1" dirty="0"/>
              <a:t>Temporal Demand Forecasting:</a:t>
            </a:r>
            <a:r>
              <a:rPr lang="en-US" sz="2000" dirty="0"/>
              <a:t> Analyzed transaction timestamps to map out seasonal traffic cycles and track early-intent browsing signals.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"/>
          <p:cNvSpPr txBox="1">
            <a:spLocks noGrp="1"/>
          </p:cNvSpPr>
          <p:nvPr>
            <p:ph type="title"/>
          </p:nvPr>
        </p:nvSpPr>
        <p:spPr>
          <a:xfrm>
            <a:off x="0" y="-1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Algorithms Used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198120" y="986114"/>
            <a:ext cx="8747760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r>
              <a:rPr lang="en-US" sz="2000" b="1" dirty="0"/>
              <a:t>K-Means Clustering:</a:t>
            </a:r>
            <a:r>
              <a:rPr lang="en-US" sz="2000" dirty="0"/>
              <a:t> Groups customers into 4 distinct segments based on their buying habits.</a:t>
            </a:r>
          </a:p>
          <a:p>
            <a:endParaRPr lang="en-US" sz="2000" dirty="0"/>
          </a:p>
          <a:p>
            <a:r>
              <a:rPr lang="en-US" sz="2000" b="1" dirty="0"/>
              <a:t>Elbow &amp; Silhouette Methods:</a:t>
            </a:r>
            <a:r>
              <a:rPr lang="en-US" sz="2000" dirty="0"/>
              <a:t> Mathematically proved that 4 customer groups was the perfect setup.</a:t>
            </a:r>
          </a:p>
          <a:p>
            <a:endParaRPr lang="en-US" sz="2000" dirty="0"/>
          </a:p>
          <a:p>
            <a:r>
              <a:rPr lang="en-US" sz="2000" b="1" dirty="0"/>
              <a:t>Logistic Regression:</a:t>
            </a:r>
            <a:r>
              <a:rPr lang="en-US" sz="2000" dirty="0"/>
              <a:t> The baseline model used to quickly predict if a user will buy or leave.</a:t>
            </a:r>
          </a:p>
          <a:p>
            <a:endParaRPr lang="en-US" sz="2000" dirty="0"/>
          </a:p>
          <a:p>
            <a:r>
              <a:rPr lang="en-US" sz="2000" b="1" dirty="0"/>
              <a:t>Random Forest Classifier:</a:t>
            </a:r>
            <a:r>
              <a:rPr lang="en-US" sz="2000" dirty="0"/>
              <a:t> Ranks which features (like session time or ratings) matter most to a buyer.</a:t>
            </a:r>
          </a:p>
          <a:p>
            <a:endParaRPr lang="en-US" sz="2000" dirty="0"/>
          </a:p>
          <a:p>
            <a:r>
              <a:rPr lang="en-US" sz="2000" b="1" dirty="0"/>
              <a:t>Time-Series Decomposition:</a:t>
            </a:r>
            <a:r>
              <a:rPr lang="en-US" sz="2000" dirty="0"/>
              <a:t> Separates daily random traffic from major holiday sales peaks.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>
            <a:spLocks noGrp="1"/>
          </p:cNvSpPr>
          <p:nvPr>
            <p:ph type="title"/>
          </p:nvPr>
        </p:nvSpPr>
        <p:spPr>
          <a:xfrm>
            <a:off x="0" y="-1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 &amp; Discussion</a:t>
            </a:r>
            <a:endParaRPr/>
          </a:p>
        </p:txBody>
      </p:sp>
      <p:sp>
        <p:nvSpPr>
          <p:cNvPr id="306" name="Google Shape;306;p23"/>
          <p:cNvSpPr txBox="1">
            <a:spLocks noGrp="1"/>
          </p:cNvSpPr>
          <p:nvPr>
            <p:ph type="body" idx="1"/>
          </p:nvPr>
        </p:nvSpPr>
        <p:spPr>
          <a:xfrm>
            <a:off x="103239" y="720235"/>
            <a:ext cx="8937522" cy="541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2200" b="1" dirty="0"/>
              <a:t>The Rating Paradox:</a:t>
            </a:r>
            <a:r>
              <a:rPr lang="en-US" sz="2200" dirty="0"/>
              <a:t> Sales peak between </a:t>
            </a:r>
            <a:r>
              <a:rPr lang="en-US" sz="2200" b="1" dirty="0"/>
              <a:t>4.2 and 4.7 stars</a:t>
            </a:r>
            <a:r>
              <a:rPr lang="en-US" sz="2200" dirty="0"/>
              <a:t> (34.7% conversion). Perfect 5.0 ratings actually drop conversion because buyers suspect fake reviews.</a:t>
            </a:r>
          </a:p>
          <a:p>
            <a:r>
              <a:rPr lang="en-US" sz="2200" b="1" dirty="0"/>
              <a:t>The Discount Sweet Spot:</a:t>
            </a:r>
            <a:r>
              <a:rPr lang="en-US" sz="2200" dirty="0"/>
              <a:t> Maximum profitable volume happens at </a:t>
            </a:r>
            <a:r>
              <a:rPr lang="en-US" sz="2200" b="1" dirty="0"/>
              <a:t>20% to 35% discounts</a:t>
            </a:r>
            <a:r>
              <a:rPr lang="en-US" sz="2200" dirty="0"/>
              <a:t>. Going past 50% kills profit margins and attracts low-value bargain hunters.</a:t>
            </a:r>
          </a:p>
          <a:p>
            <a:r>
              <a:rPr lang="en-US" sz="2200" b="1" dirty="0"/>
              <a:t>The Mobile Traffic Trap:</a:t>
            </a:r>
            <a:r>
              <a:rPr lang="en-US" sz="2200" dirty="0"/>
              <a:t> Mobile devices bring in </a:t>
            </a:r>
            <a:r>
              <a:rPr lang="en-US" sz="2200" b="1" dirty="0"/>
              <a:t>58% of all traffic</a:t>
            </a:r>
            <a:r>
              <a:rPr lang="en-US" sz="2200" dirty="0"/>
              <a:t> but only finish </a:t>
            </a:r>
            <a:r>
              <a:rPr lang="en-US" sz="2200" b="1" dirty="0"/>
              <a:t>34% of actual sales</a:t>
            </a:r>
            <a:r>
              <a:rPr lang="en-US" sz="2200" dirty="0"/>
              <a:t>. The major sales are still completed on desktops due to mobile checkout friction.</a:t>
            </a:r>
          </a:p>
          <a:p>
            <a:r>
              <a:rPr lang="en-US" sz="2200" b="1" dirty="0"/>
              <a:t>Browsing Triggers:</a:t>
            </a:r>
            <a:r>
              <a:rPr lang="en-US" sz="2200" dirty="0"/>
              <a:t> A sharp increase in user session lengths during a 14-day window is a highly predictable indicator of a coming purchase wave.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title"/>
          </p:nvPr>
        </p:nvSpPr>
        <p:spPr>
          <a:xfrm>
            <a:off x="0" y="-1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body" idx="1"/>
          </p:nvPr>
        </p:nvSpPr>
        <p:spPr>
          <a:xfrm>
            <a:off x="205013" y="1091376"/>
            <a:ext cx="8588713" cy="5235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r>
              <a:rPr lang="en-US" sz="1800" b="1" dirty="0"/>
              <a:t>Data Over Guesswork:</a:t>
            </a:r>
            <a:r>
              <a:rPr lang="en-US" sz="1800" dirty="0"/>
              <a:t> Proves that digital consumer behavior follows predictable patterns that can be mapped using data rather than business intuition.</a:t>
            </a:r>
          </a:p>
          <a:p>
            <a:r>
              <a:rPr lang="en-US" sz="1800" b="1" dirty="0"/>
              <a:t>Trust Drives Value:</a:t>
            </a:r>
            <a:r>
              <a:rPr lang="en-US" sz="1800" dirty="0"/>
              <a:t> Confirms that maintaining transparent, high-volume review systems (4.2–4.7 stars) is more profitable than chasing fake 5.0 ratings.</a:t>
            </a:r>
          </a:p>
          <a:p>
            <a:r>
              <a:rPr lang="en-US" sz="1800" b="1" dirty="0"/>
              <a:t>Fixing Mobile Friction:</a:t>
            </a:r>
            <a:r>
              <a:rPr lang="en-US" sz="1800" dirty="0"/>
              <a:t> Highlights that redesigning the mobile checkout path is the highest-return opportunity to stop cart abandonment.</a:t>
            </a:r>
          </a:p>
          <a:p>
            <a:r>
              <a:rPr lang="en-US" sz="1800" b="1" dirty="0"/>
              <a:t>Precision Over Mass Marketing:</a:t>
            </a:r>
            <a:r>
              <a:rPr lang="en-US" sz="1800" dirty="0"/>
              <a:t> Demonstrates that dividing users into behavioral clusters allows platforms to replace spam with high-converting, personalized experiences.</a:t>
            </a:r>
          </a:p>
          <a:p>
            <a:r>
              <a:rPr lang="en-US" sz="1800" b="1" dirty="0"/>
              <a:t>Long-Term Growth:</a:t>
            </a:r>
            <a:r>
              <a:rPr lang="en-US" sz="1800" dirty="0"/>
              <a:t> Shows that investing in customer retention creates a much more stable and profitable business than constantly spending money to find new shoppers.</a:t>
            </a:r>
          </a:p>
          <a:p>
            <a:r>
              <a:rPr lang="en-US" sz="1800" b="1" dirty="0"/>
              <a:t>Future Technology:</a:t>
            </a:r>
            <a:r>
              <a:rPr lang="en-US" sz="1800" dirty="0"/>
              <a:t> Opens the door for adding advanced Artificial Intelligence (AI) to track consumer behavior in real-time and predict trends before they happen.</a:t>
            </a:r>
          </a:p>
          <a:p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"/>
          <p:cNvSpPr txBox="1">
            <a:spLocks noGrp="1"/>
          </p:cNvSpPr>
          <p:nvPr>
            <p:ph type="title"/>
          </p:nvPr>
        </p:nvSpPr>
        <p:spPr>
          <a:xfrm>
            <a:off x="0" y="-1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/>
              <a:t>Future Scope</a:t>
            </a:r>
            <a:endParaRPr/>
          </a:p>
        </p:txBody>
      </p:sp>
      <p:sp>
        <p:nvSpPr>
          <p:cNvPr id="318" name="Google Shape;318;p25"/>
          <p:cNvSpPr txBox="1">
            <a:spLocks noGrp="1"/>
          </p:cNvSpPr>
          <p:nvPr>
            <p:ph type="body" idx="1"/>
          </p:nvPr>
        </p:nvSpPr>
        <p:spPr>
          <a:xfrm>
            <a:off x="146829" y="1012249"/>
            <a:ext cx="8445344" cy="50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r>
              <a:rPr lang="en-US" sz="1800" b="1" dirty="0"/>
              <a:t>Real-Time Predictive AI:</a:t>
            </a:r>
            <a:r>
              <a:rPr lang="en-US" sz="1800" dirty="0"/>
              <a:t> Transition from historical data analysis to deploying live AI models that predict user purchase intent mid-session.</a:t>
            </a:r>
          </a:p>
          <a:p>
            <a:r>
              <a:rPr lang="en-US" sz="1800" b="1" dirty="0"/>
              <a:t>Hyper-Personalized Recommendation Engines:</a:t>
            </a:r>
            <a:r>
              <a:rPr lang="en-US" sz="1800" dirty="0"/>
              <a:t> Integrate deep learning algorithms to suggest products based on immediate visual searches and real-time click patterns.</a:t>
            </a:r>
          </a:p>
          <a:p>
            <a:r>
              <a:rPr lang="en-US" sz="1800" b="1" dirty="0"/>
              <a:t>Omnichannel Data Integration:</a:t>
            </a:r>
            <a:r>
              <a:rPr lang="en-US" sz="1800" dirty="0"/>
              <a:t> Expand the analytical framework to connect online e-commerce website behavior with physical, in-store retail touchpoints.</a:t>
            </a:r>
          </a:p>
          <a:p>
            <a:r>
              <a:rPr lang="en-US" sz="1800" b="1" dirty="0"/>
              <a:t>Automated Dynamic Pricing:</a:t>
            </a:r>
            <a:r>
              <a:rPr lang="en-US" sz="1800" dirty="0"/>
              <a:t> Build machine learning pipelines that automatically adjust discount levels in real-time based on live competitor prices and inventory levels.</a:t>
            </a:r>
          </a:p>
          <a:p>
            <a:r>
              <a:rPr lang="en-US" sz="1800" b="1" dirty="0"/>
              <a:t>Privacy-First Web Analytics:</a:t>
            </a:r>
            <a:r>
              <a:rPr lang="en-US" sz="1800" dirty="0"/>
              <a:t> Adapt the data tracking systems to thrive in a cookie-less digital ecosystem using advanced privacy-preserving machine learning.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"/>
          <p:cNvSpPr txBox="1">
            <a:spLocks noGrp="1"/>
          </p:cNvSpPr>
          <p:nvPr>
            <p:ph type="title"/>
          </p:nvPr>
        </p:nvSpPr>
        <p:spPr>
          <a:xfrm>
            <a:off x="0" y="-1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/>
              <a:t>References</a:t>
            </a:r>
            <a:endParaRPr/>
          </a:p>
        </p:txBody>
      </p:sp>
      <p:sp>
        <p:nvSpPr>
          <p:cNvPr id="324" name="Google Shape;324;p26"/>
          <p:cNvSpPr txBox="1">
            <a:spLocks noGrp="1"/>
          </p:cNvSpPr>
          <p:nvPr>
            <p:ph type="body" idx="1"/>
          </p:nvPr>
        </p:nvSpPr>
        <p:spPr>
          <a:xfrm>
            <a:off x="232039" y="1145085"/>
            <a:ext cx="8454402" cy="5277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 lnSpcReduction="10000"/>
          </a:bodyPr>
          <a:lstStyle/>
          <a:p>
            <a:r>
              <a:rPr lang="en-US" sz="1800" b="1" dirty="0"/>
              <a:t>[1] Amazon Consumer Reports (2023):</a:t>
            </a:r>
            <a:r>
              <a:rPr lang="en-US" sz="1800" dirty="0"/>
              <a:t> </a:t>
            </a:r>
            <a:r>
              <a:rPr lang="en-US" sz="1800" i="1" dirty="0"/>
              <a:t>"The Impact of Customer Reviews on Digital Purchase Decisions"</a:t>
            </a:r>
            <a:r>
              <a:rPr lang="en-US" sz="1800" dirty="0"/>
              <a:t> — Case study on how star ratings directly control shopping trust.</a:t>
            </a:r>
          </a:p>
          <a:p>
            <a:r>
              <a:rPr lang="en-US" sz="1800" b="1" dirty="0"/>
              <a:t>[2] Flipkart Engineering Blog (2024):</a:t>
            </a:r>
            <a:r>
              <a:rPr lang="en-US" sz="1800" dirty="0"/>
              <a:t> </a:t>
            </a:r>
            <a:r>
              <a:rPr lang="en-US" sz="1800" i="1" dirty="0"/>
              <a:t>"Optimizing Mobile Checkout Path Friction"</a:t>
            </a:r>
            <a:r>
              <a:rPr lang="en-US" sz="1800" dirty="0"/>
              <a:t> — Tech analysis on how one-click checkout stops cart abandonment on phones.</a:t>
            </a:r>
          </a:p>
          <a:p>
            <a:r>
              <a:rPr lang="en-US" sz="1800" b="1" dirty="0"/>
              <a:t>[3] Amazon Web Services (AWS) Case Studies:</a:t>
            </a:r>
            <a:r>
              <a:rPr lang="en-US" sz="1800" dirty="0"/>
              <a:t> </a:t>
            </a:r>
            <a:r>
              <a:rPr lang="en-US" sz="1800" i="1" dirty="0"/>
              <a:t>"Using K-Means Clustering for Real-Time Customer Segmentation"</a:t>
            </a:r>
            <a:r>
              <a:rPr lang="en-US" sz="1800" dirty="0"/>
              <a:t> — Industry guide on dividing buyers into dynamic target groups.</a:t>
            </a:r>
          </a:p>
          <a:p>
            <a:r>
              <a:rPr lang="en-US" sz="1800" b="1" dirty="0"/>
              <a:t>[4] Flipkart Big Billion Days Data Review (2025):</a:t>
            </a:r>
            <a:r>
              <a:rPr lang="en-US" sz="1800" dirty="0"/>
              <a:t> </a:t>
            </a:r>
            <a:r>
              <a:rPr lang="en-US" sz="1800" i="1" dirty="0"/>
              <a:t>"Managing Traffic and Demand Waves During Mega Sales"</a:t>
            </a:r>
            <a:r>
              <a:rPr lang="en-US" sz="1800" dirty="0"/>
              <a:t> — Operational breakdown of handling seasonal spikes and holiday trends.</a:t>
            </a:r>
          </a:p>
          <a:p>
            <a:r>
              <a:rPr lang="en-US" sz="1800" b="1" dirty="0"/>
              <a:t>[5] Harvard Business Review (2022):</a:t>
            </a:r>
            <a:r>
              <a:rPr lang="en-US" sz="1800" dirty="0"/>
              <a:t> </a:t>
            </a:r>
            <a:r>
              <a:rPr lang="en-US" sz="1800" i="1" dirty="0"/>
              <a:t>"The Power of Customer Retention,"</a:t>
            </a:r>
            <a:r>
              <a:rPr lang="en-US" sz="1800" dirty="0"/>
              <a:t> HBR Analytics — An industry report on why keeping old customers is cheaper than finding new ones.</a:t>
            </a:r>
          </a:p>
          <a:p>
            <a:r>
              <a:rPr lang="en-US" sz="1800" b="1" dirty="0"/>
              <a:t>[6] Google Analytics Reports (2024):</a:t>
            </a:r>
            <a:r>
              <a:rPr lang="en-US" sz="1800" dirty="0"/>
              <a:t> </a:t>
            </a:r>
            <a:r>
              <a:rPr lang="en-US" sz="1800" i="1" dirty="0"/>
              <a:t>"Global E-Commerce Benchmarks and Mobile Trends"</a:t>
            </a:r>
            <a:r>
              <a:rPr lang="en-US" sz="1800" dirty="0"/>
              <a:t> — A data report showing mobile traffic versus desktop sales.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"/>
          <p:cNvSpPr txBox="1"/>
          <p:nvPr/>
        </p:nvSpPr>
        <p:spPr>
          <a:xfrm>
            <a:off x="1343301" y="2802318"/>
            <a:ext cx="6614150" cy="144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Times New Roman"/>
              <a:buNone/>
            </a:pPr>
            <a:r>
              <a:rPr lang="en-US" sz="9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1519</Words>
  <Application>Microsoft Office PowerPoint</Application>
  <PresentationFormat>On-screen Show (4:3)</PresentationFormat>
  <Paragraphs>109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 Contents</vt:lpstr>
      <vt:lpstr>PowerPoint Presentation</vt:lpstr>
      <vt:lpstr> Problem Statement</vt:lpstr>
      <vt:lpstr> Objectives</vt:lpstr>
      <vt:lpstr> Key Features</vt:lpstr>
      <vt:lpstr>Costumer Purcharse behaviour On basis of Ratings </vt:lpstr>
      <vt:lpstr> Dataset Description</vt:lpstr>
      <vt:lpstr> Methodology</vt:lpstr>
      <vt:lpstr>Algorithms Used</vt:lpstr>
      <vt:lpstr>Results &amp; Discussion</vt:lpstr>
      <vt:lpstr>Conclusion</vt:lpstr>
      <vt:lpstr> Future Scope</vt:lpstr>
      <vt:lpstr>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Prikshit Khurana</dc:creator>
  <cp:lastModifiedBy>Prikshit Khurana</cp:lastModifiedBy>
  <cp:revision>1</cp:revision>
  <dcterms:modified xsi:type="dcterms:W3CDTF">2026-05-18T16:55:21Z</dcterms:modified>
</cp:coreProperties>
</file>